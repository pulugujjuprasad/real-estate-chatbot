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y="6858000" cx="12192000"/>
  <p:notesSz cx="6858000" cy="9144000"/>
  <p:embeddedFontLst>
    <p:embeddedFont>
      <p:font typeface="Inter SemiBold"/>
      <p:regular r:id="rId18"/>
      <p:bold r:id="rId19"/>
      <p:italic r:id="rId20"/>
      <p:boldItalic r:id="rId21"/>
    </p:embeddedFont>
    <p:embeddedFont>
      <p:font typeface="Plus Jakarta Sans"/>
      <p:regular r:id="rId22"/>
      <p:bold r:id="rId23"/>
      <p:italic r:id="rId24"/>
      <p:boldItalic r:id="rId25"/>
    </p:embeddedFont>
    <p:embeddedFont>
      <p:font typeface="Inter"/>
      <p:regular r:id="rId26"/>
      <p:bold r:id="rId27"/>
      <p:italic r:id="rId28"/>
      <p:boldItalic r:id="rId29"/>
    </p:embeddedFont>
    <p:embeddedFont>
      <p:font typeface="Plus Jakarta Sans SemiBold"/>
      <p:regular r:id="rId30"/>
      <p:bold r:id="rId31"/>
      <p:italic r:id="rId32"/>
      <p:boldItalic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2B54A60-836B-447F-AD8C-0FDFA4CBA57B}">
  <a:tblStyle styleId="{92B54A60-836B-447F-AD8C-0FDFA4CBA57B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SemiBold-italic.fntdata"/><Relationship Id="rId22" Type="http://schemas.openxmlformats.org/officeDocument/2006/relationships/font" Target="fonts/PlusJakartaSans-regular.fntdata"/><Relationship Id="rId21" Type="http://schemas.openxmlformats.org/officeDocument/2006/relationships/font" Target="fonts/InterSemiBold-boldItalic.fntdata"/><Relationship Id="rId24" Type="http://schemas.openxmlformats.org/officeDocument/2006/relationships/font" Target="fonts/PlusJakartaSans-italic.fntdata"/><Relationship Id="rId23" Type="http://schemas.openxmlformats.org/officeDocument/2006/relationships/font" Target="fonts/PlusJakartaSans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Inter-regular.fntdata"/><Relationship Id="rId25" Type="http://schemas.openxmlformats.org/officeDocument/2006/relationships/font" Target="fonts/PlusJakartaSans-boldItalic.fntdata"/><Relationship Id="rId28" Type="http://schemas.openxmlformats.org/officeDocument/2006/relationships/font" Target="fonts/Inter-italic.fntdata"/><Relationship Id="rId27" Type="http://schemas.openxmlformats.org/officeDocument/2006/relationships/font" Target="fonts/Inter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Inter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PlusJakartaSansSemiBold-bold.fntdata"/><Relationship Id="rId30" Type="http://schemas.openxmlformats.org/officeDocument/2006/relationships/font" Target="fonts/PlusJakartaSansSemiBold-regular.fntdata"/><Relationship Id="rId11" Type="http://schemas.openxmlformats.org/officeDocument/2006/relationships/slide" Target="slides/slide5.xml"/><Relationship Id="rId33" Type="http://schemas.openxmlformats.org/officeDocument/2006/relationships/font" Target="fonts/PlusJakartaSansSemiBold-boldItalic.fntdata"/><Relationship Id="rId10" Type="http://schemas.openxmlformats.org/officeDocument/2006/relationships/slide" Target="slides/slide4.xml"/><Relationship Id="rId32" Type="http://schemas.openxmlformats.org/officeDocument/2006/relationships/font" Target="fonts/PlusJakartaSansSemiBold-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InterSemiBold-bold.fntdata"/><Relationship Id="rId18" Type="http://schemas.openxmlformats.org/officeDocument/2006/relationships/font" Target="fonts/InterSemiBold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33.jpg"/><Relationship Id="rId5" Type="http://schemas.openxmlformats.org/officeDocument/2006/relationships/image" Target="../media/image8.png"/><Relationship Id="rId6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9.png"/><Relationship Id="rId4" Type="http://schemas.openxmlformats.org/officeDocument/2006/relationships/image" Target="../media/image1.png"/><Relationship Id="rId5" Type="http://schemas.openxmlformats.org/officeDocument/2006/relationships/image" Target="../media/image2.png"/><Relationship Id="rId6" Type="http://schemas.openxmlformats.org/officeDocument/2006/relationships/image" Target="../media/image28.jpg"/><Relationship Id="rId7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1" Type="http://schemas.openxmlformats.org/officeDocument/2006/relationships/image" Target="../media/image22.png"/><Relationship Id="rId10" Type="http://schemas.openxmlformats.org/officeDocument/2006/relationships/image" Target="../media/image16.png"/><Relationship Id="rId13" Type="http://schemas.openxmlformats.org/officeDocument/2006/relationships/image" Target="../media/image12.png"/><Relationship Id="rId12" Type="http://schemas.openxmlformats.org/officeDocument/2006/relationships/image" Target="../media/image25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9.png"/><Relationship Id="rId4" Type="http://schemas.openxmlformats.org/officeDocument/2006/relationships/image" Target="../media/image3.png"/><Relationship Id="rId9" Type="http://schemas.openxmlformats.org/officeDocument/2006/relationships/image" Target="../media/image9.png"/><Relationship Id="rId15" Type="http://schemas.openxmlformats.org/officeDocument/2006/relationships/image" Target="../media/image27.png"/><Relationship Id="rId14" Type="http://schemas.openxmlformats.org/officeDocument/2006/relationships/image" Target="../media/image19.png"/><Relationship Id="rId16" Type="http://schemas.openxmlformats.org/officeDocument/2006/relationships/image" Target="../media/image10.png"/><Relationship Id="rId5" Type="http://schemas.openxmlformats.org/officeDocument/2006/relationships/image" Target="../media/image6.png"/><Relationship Id="rId6" Type="http://schemas.openxmlformats.org/officeDocument/2006/relationships/image" Target="../media/image13.png"/><Relationship Id="rId7" Type="http://schemas.openxmlformats.org/officeDocument/2006/relationships/image" Target="../media/image11.png"/><Relationship Id="rId8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20" Type="http://schemas.openxmlformats.org/officeDocument/2006/relationships/image" Target="../media/image29.png"/><Relationship Id="rId22" Type="http://schemas.openxmlformats.org/officeDocument/2006/relationships/image" Target="../media/image32.png"/><Relationship Id="rId21" Type="http://schemas.openxmlformats.org/officeDocument/2006/relationships/image" Target="../media/image49.png"/><Relationship Id="rId24" Type="http://schemas.openxmlformats.org/officeDocument/2006/relationships/image" Target="../media/image34.png"/><Relationship Id="rId23" Type="http://schemas.openxmlformats.org/officeDocument/2006/relationships/image" Target="../media/image46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8.png"/><Relationship Id="rId4" Type="http://schemas.openxmlformats.org/officeDocument/2006/relationships/image" Target="../media/image3.png"/><Relationship Id="rId9" Type="http://schemas.openxmlformats.org/officeDocument/2006/relationships/image" Target="../media/image17.png"/><Relationship Id="rId25" Type="http://schemas.openxmlformats.org/officeDocument/2006/relationships/image" Target="../media/image10.png"/><Relationship Id="rId5" Type="http://schemas.openxmlformats.org/officeDocument/2006/relationships/image" Target="../media/image15.png"/><Relationship Id="rId6" Type="http://schemas.openxmlformats.org/officeDocument/2006/relationships/image" Target="../media/image21.png"/><Relationship Id="rId7" Type="http://schemas.openxmlformats.org/officeDocument/2006/relationships/image" Target="../media/image18.png"/><Relationship Id="rId8" Type="http://schemas.openxmlformats.org/officeDocument/2006/relationships/image" Target="../media/image20.png"/><Relationship Id="rId11" Type="http://schemas.openxmlformats.org/officeDocument/2006/relationships/image" Target="../media/image23.png"/><Relationship Id="rId10" Type="http://schemas.openxmlformats.org/officeDocument/2006/relationships/image" Target="../media/image14.png"/><Relationship Id="rId13" Type="http://schemas.openxmlformats.org/officeDocument/2006/relationships/image" Target="../media/image6.png"/><Relationship Id="rId12" Type="http://schemas.openxmlformats.org/officeDocument/2006/relationships/image" Target="../media/image24.png"/><Relationship Id="rId15" Type="http://schemas.openxmlformats.org/officeDocument/2006/relationships/image" Target="../media/image40.png"/><Relationship Id="rId14" Type="http://schemas.openxmlformats.org/officeDocument/2006/relationships/image" Target="../media/image26.png"/><Relationship Id="rId17" Type="http://schemas.openxmlformats.org/officeDocument/2006/relationships/image" Target="../media/image38.png"/><Relationship Id="rId16" Type="http://schemas.openxmlformats.org/officeDocument/2006/relationships/image" Target="../media/image37.png"/><Relationship Id="rId19" Type="http://schemas.openxmlformats.org/officeDocument/2006/relationships/image" Target="../media/image30.png"/><Relationship Id="rId18" Type="http://schemas.openxmlformats.org/officeDocument/2006/relationships/image" Target="../media/image3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8.png"/><Relationship Id="rId4" Type="http://schemas.openxmlformats.org/officeDocument/2006/relationships/image" Target="../media/image35.png"/><Relationship Id="rId9" Type="http://schemas.openxmlformats.org/officeDocument/2006/relationships/image" Target="../media/image51.png"/><Relationship Id="rId5" Type="http://schemas.openxmlformats.org/officeDocument/2006/relationships/image" Target="../media/image36.png"/><Relationship Id="rId6" Type="http://schemas.openxmlformats.org/officeDocument/2006/relationships/image" Target="../media/image45.png"/><Relationship Id="rId7" Type="http://schemas.openxmlformats.org/officeDocument/2006/relationships/image" Target="../media/image41.png"/><Relationship Id="rId8" Type="http://schemas.openxmlformats.org/officeDocument/2006/relationships/image" Target="../media/image5.png"/><Relationship Id="rId11" Type="http://schemas.openxmlformats.org/officeDocument/2006/relationships/image" Target="../media/image42.png"/><Relationship Id="rId10" Type="http://schemas.openxmlformats.org/officeDocument/2006/relationships/image" Target="../media/image6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9.png"/><Relationship Id="rId4" Type="http://schemas.openxmlformats.org/officeDocument/2006/relationships/image" Target="../media/image47.png"/><Relationship Id="rId9" Type="http://schemas.openxmlformats.org/officeDocument/2006/relationships/image" Target="../media/image70.png"/><Relationship Id="rId5" Type="http://schemas.openxmlformats.org/officeDocument/2006/relationships/image" Target="../media/image73.png"/><Relationship Id="rId6" Type="http://schemas.openxmlformats.org/officeDocument/2006/relationships/image" Target="../media/image43.png"/><Relationship Id="rId7" Type="http://schemas.openxmlformats.org/officeDocument/2006/relationships/image" Target="../media/image44.png"/><Relationship Id="rId8" Type="http://schemas.openxmlformats.org/officeDocument/2006/relationships/image" Target="../media/image61.png"/><Relationship Id="rId11" Type="http://schemas.openxmlformats.org/officeDocument/2006/relationships/image" Target="../media/image60.png"/><Relationship Id="rId10" Type="http://schemas.openxmlformats.org/officeDocument/2006/relationships/image" Target="../media/image55.png"/><Relationship Id="rId13" Type="http://schemas.openxmlformats.org/officeDocument/2006/relationships/image" Target="../media/image66.png"/><Relationship Id="rId12" Type="http://schemas.openxmlformats.org/officeDocument/2006/relationships/image" Target="../media/image74.png"/><Relationship Id="rId15" Type="http://schemas.openxmlformats.org/officeDocument/2006/relationships/image" Target="../media/image5.png"/><Relationship Id="rId14" Type="http://schemas.openxmlformats.org/officeDocument/2006/relationships/image" Target="../media/image5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8.png"/><Relationship Id="rId4" Type="http://schemas.openxmlformats.org/officeDocument/2006/relationships/image" Target="../media/image5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6.png"/><Relationship Id="rId4" Type="http://schemas.openxmlformats.org/officeDocument/2006/relationships/image" Target="../media/image40.png"/><Relationship Id="rId9" Type="http://schemas.openxmlformats.org/officeDocument/2006/relationships/image" Target="../media/image52.png"/><Relationship Id="rId5" Type="http://schemas.openxmlformats.org/officeDocument/2006/relationships/image" Target="../media/image58.png"/><Relationship Id="rId6" Type="http://schemas.openxmlformats.org/officeDocument/2006/relationships/image" Target="../media/image68.png"/><Relationship Id="rId7" Type="http://schemas.openxmlformats.org/officeDocument/2006/relationships/image" Target="../media/image54.png"/><Relationship Id="rId8" Type="http://schemas.openxmlformats.org/officeDocument/2006/relationships/image" Target="../media/image64.png"/><Relationship Id="rId10" Type="http://schemas.openxmlformats.org/officeDocument/2006/relationships/image" Target="../media/image5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9.png"/><Relationship Id="rId4" Type="http://schemas.openxmlformats.org/officeDocument/2006/relationships/image" Target="../media/image59.png"/><Relationship Id="rId5" Type="http://schemas.openxmlformats.org/officeDocument/2006/relationships/image" Target="../media/image69.png"/><Relationship Id="rId6" Type="http://schemas.openxmlformats.org/officeDocument/2006/relationships/image" Target="../media/image62.png"/><Relationship Id="rId7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3.png"/><Relationship Id="rId4" Type="http://schemas.openxmlformats.org/officeDocument/2006/relationships/image" Target="../media/image75.png"/><Relationship Id="rId5" Type="http://schemas.openxmlformats.org/officeDocument/2006/relationships/image" Target="../media/image67.png"/><Relationship Id="rId6" Type="http://schemas.openxmlformats.org/officeDocument/2006/relationships/image" Target="../media/image72.png"/><Relationship Id="rId7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9.png"/><Relationship Id="rId4" Type="http://schemas.openxmlformats.org/officeDocument/2006/relationships/image" Target="../media/image5.png"/><Relationship Id="rId5" Type="http://schemas.openxmlformats.org/officeDocument/2006/relationships/image" Target="../media/image7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771525" y="581025"/>
            <a:ext cx="5340667" cy="504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Executive Summary</a:t>
            </a:r>
            <a:endParaRPr/>
          </a:p>
        </p:txBody>
      </p:sp>
      <p:pic>
        <p:nvPicPr>
          <p:cNvPr id="86" name="Google Shape;86;p13"/>
          <p:cNvPicPr preferRelativeResize="0"/>
          <p:nvPr/>
        </p:nvPicPr>
        <p:blipFill rotWithShape="1">
          <a:blip r:embed="rId4">
            <a:alphaModFix/>
          </a:blip>
          <a:srcRect b="6286" l="0" r="0" t="6286"/>
          <a:stretch/>
        </p:blipFill>
        <p:spPr>
          <a:xfrm>
            <a:off x="6334125" y="9525"/>
            <a:ext cx="5848349" cy="6850996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/>
          <p:cNvSpPr/>
          <p:nvPr/>
        </p:nvSpPr>
        <p:spPr>
          <a:xfrm>
            <a:off x="771525" y="1085850"/>
            <a:ext cx="76200" cy="342900"/>
          </a:xfrm>
          <a:prstGeom prst="roundRect">
            <a:avLst>
              <a:gd fmla="val 50000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771525" y="1466850"/>
            <a:ext cx="5340667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E3A8A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The Problem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771525" y="1905000"/>
            <a:ext cx="50863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Property search platforms require users to manually browse hundreds of listings and apply multiple restrictive filters.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771525" y="2739330"/>
            <a:ext cx="5340667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E3A8A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The Solution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771525" y="3177480"/>
            <a:ext cx="50863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An AI-powered conversational real estate assistant that helps users discover properties using natural language.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771525" y="4011810"/>
            <a:ext cx="5340667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E3A8A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The Outcome</a:t>
            </a:r>
            <a:endParaRPr/>
          </a:p>
        </p:txBody>
      </p:sp>
      <p:pic>
        <p:nvPicPr>
          <p:cNvPr descr="image.png" id="93" name="Google Shape;93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38225" y="6432946"/>
            <a:ext cx="1714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3"/>
          <p:cNvSpPr txBox="1"/>
          <p:nvPr/>
        </p:nvSpPr>
        <p:spPr>
          <a:xfrm>
            <a:off x="1362075" y="6347221"/>
            <a:ext cx="42672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3A8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Key Message: Transform tedious filter-based searches into intuitive conversations.</a:t>
            </a:r>
            <a:endParaRPr/>
          </a:p>
        </p:txBody>
      </p:sp>
      <p:sp>
        <p:nvSpPr>
          <p:cNvPr id="95" name="Google Shape;95;p13"/>
          <p:cNvSpPr txBox="1"/>
          <p:nvPr/>
        </p:nvSpPr>
        <p:spPr>
          <a:xfrm>
            <a:off x="1076325" y="4449960"/>
            <a:ext cx="47815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Faster property discovery</a:t>
            </a:r>
            <a:endParaRPr/>
          </a:p>
        </p:txBody>
      </p:sp>
      <p:sp>
        <p:nvSpPr>
          <p:cNvPr id="96" name="Google Shape;96;p13"/>
          <p:cNvSpPr txBox="1"/>
          <p:nvPr/>
        </p:nvSpPr>
        <p:spPr>
          <a:xfrm>
            <a:off x="1076325" y="4876651"/>
            <a:ext cx="47815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Personalized recommendations</a:t>
            </a:r>
            <a:endParaRPr/>
          </a:p>
        </p:txBody>
      </p:sp>
      <p:sp>
        <p:nvSpPr>
          <p:cNvPr id="97" name="Google Shape;97;p13"/>
          <p:cNvSpPr txBox="1"/>
          <p:nvPr/>
        </p:nvSpPr>
        <p:spPr>
          <a:xfrm>
            <a:off x="1076325" y="5303341"/>
            <a:ext cx="47815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Conversational search experience</a:t>
            </a:r>
            <a:endParaRPr/>
          </a:p>
        </p:txBody>
      </p:sp>
      <p:sp>
        <p:nvSpPr>
          <p:cNvPr id="98" name="Google Shape;98;p13"/>
          <p:cNvSpPr txBox="1"/>
          <p:nvPr/>
        </p:nvSpPr>
        <p:spPr>
          <a:xfrm>
            <a:off x="1076325" y="5730031"/>
            <a:ext cx="47815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AI-powered decision support</a:t>
            </a:r>
            <a:endParaRPr/>
          </a:p>
        </p:txBody>
      </p:sp>
      <p:pic>
        <p:nvPicPr>
          <p:cNvPr descr="image.png" id="99" name="Google Shape;99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71525" y="446901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0" name="Google Shape;100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71525" y="4895701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1" name="Google Shape;101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71525" y="5322391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2" name="Google Shape;102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71525" y="5749081"/>
            <a:ext cx="19050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7" name="Google Shape;107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8" name="Google Shape;108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525" y="2834580"/>
            <a:ext cx="5038725" cy="9295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9" name="Google Shape;109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1466850"/>
            <a:ext cx="5038725" cy="457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4"/>
          <p:cNvSpPr txBox="1"/>
          <p:nvPr/>
        </p:nvSpPr>
        <p:spPr>
          <a:xfrm>
            <a:off x="771525" y="1466850"/>
            <a:ext cx="5290661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E3A8A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The Vision</a:t>
            </a:r>
            <a:endParaRPr/>
          </a:p>
        </p:txBody>
      </p:sp>
      <p:sp>
        <p:nvSpPr>
          <p:cNvPr id="111" name="Google Shape;111;p14"/>
          <p:cNvSpPr txBox="1"/>
          <p:nvPr/>
        </p:nvSpPr>
        <p:spPr>
          <a:xfrm>
            <a:off x="771525" y="1905000"/>
            <a:ext cx="503872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Replace traditional property search forms with intelligent conversational AI.</a:t>
            </a:r>
            <a:endParaRPr/>
          </a:p>
        </p:txBody>
      </p:sp>
      <p:sp>
        <p:nvSpPr>
          <p:cNvPr id="112" name="Google Shape;112;p14"/>
          <p:cNvSpPr txBox="1"/>
          <p:nvPr/>
        </p:nvSpPr>
        <p:spPr>
          <a:xfrm>
            <a:off x="771525" y="4145160"/>
            <a:ext cx="5290661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E3A8A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Product Goals</a:t>
            </a:r>
            <a:endParaRPr/>
          </a:p>
        </p:txBody>
      </p:sp>
      <p:sp>
        <p:nvSpPr>
          <p:cNvPr id="113" name="Google Shape;113;p14"/>
          <p:cNvSpPr txBox="1"/>
          <p:nvPr/>
        </p:nvSpPr>
        <p:spPr>
          <a:xfrm>
            <a:off x="1000125" y="3025080"/>
            <a:ext cx="461962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"Find a 2 BHK apartment in Hyderabad under ₹60 Lakhs near IT companies."</a:t>
            </a:r>
            <a:endParaRPr/>
          </a:p>
        </p:txBody>
      </p:sp>
      <p:sp>
        <p:nvSpPr>
          <p:cNvPr id="114" name="Google Shape;114;p14"/>
          <p:cNvSpPr txBox="1"/>
          <p:nvPr/>
        </p:nvSpPr>
        <p:spPr>
          <a:xfrm>
            <a:off x="1076325" y="4583310"/>
            <a:ext cx="47339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Simplify property discovery</a:t>
            </a:r>
            <a:endParaRPr/>
          </a:p>
        </p:txBody>
      </p:sp>
      <p:sp>
        <p:nvSpPr>
          <p:cNvPr id="115" name="Google Shape;115;p14"/>
          <p:cNvSpPr txBox="1"/>
          <p:nvPr/>
        </p:nvSpPr>
        <p:spPr>
          <a:xfrm>
            <a:off x="1076325" y="5010001"/>
            <a:ext cx="47339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Improve user engagement</a:t>
            </a:r>
            <a:endParaRPr/>
          </a:p>
        </p:txBody>
      </p:sp>
      <p:sp>
        <p:nvSpPr>
          <p:cNvPr id="116" name="Google Shape;116;p14"/>
          <p:cNvSpPr txBox="1"/>
          <p:nvPr/>
        </p:nvSpPr>
        <p:spPr>
          <a:xfrm>
            <a:off x="1076325" y="5436691"/>
            <a:ext cx="47339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Reduce search effort</a:t>
            </a:r>
            <a:endParaRPr/>
          </a:p>
        </p:txBody>
      </p:sp>
      <p:sp>
        <p:nvSpPr>
          <p:cNvPr id="117" name="Google Shape;117;p14"/>
          <p:cNvSpPr txBox="1"/>
          <p:nvPr/>
        </p:nvSpPr>
        <p:spPr>
          <a:xfrm>
            <a:off x="1076325" y="5863381"/>
            <a:ext cx="47339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Personalize recommendations</a:t>
            </a:r>
            <a:endParaRPr/>
          </a:p>
        </p:txBody>
      </p:sp>
      <p:pic>
        <p:nvPicPr>
          <p:cNvPr id="118" name="Google Shape;118;p14"/>
          <p:cNvPicPr preferRelativeResize="0"/>
          <p:nvPr/>
        </p:nvPicPr>
        <p:blipFill rotWithShape="1">
          <a:blip r:embed="rId6">
            <a:alphaModFix/>
          </a:blip>
          <a:srcRect b="7138" l="1350" r="-1350" t="2159"/>
          <a:stretch/>
        </p:blipFill>
        <p:spPr>
          <a:xfrm>
            <a:off x="6391275" y="1476375"/>
            <a:ext cx="5185999" cy="47038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4"/>
          <p:cNvSpPr txBox="1"/>
          <p:nvPr/>
        </p:nvSpPr>
        <p:spPr>
          <a:xfrm>
            <a:off x="771525" y="581025"/>
            <a:ext cx="11181397" cy="504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Product Vision</a:t>
            </a:r>
            <a:endParaRPr/>
          </a:p>
        </p:txBody>
      </p:sp>
      <p:sp>
        <p:nvSpPr>
          <p:cNvPr id="120" name="Google Shape;120;p14"/>
          <p:cNvSpPr/>
          <p:nvPr/>
        </p:nvSpPr>
        <p:spPr>
          <a:xfrm>
            <a:off x="771525" y="1085850"/>
            <a:ext cx="76200" cy="342900"/>
          </a:xfrm>
          <a:prstGeom prst="roundRect">
            <a:avLst>
              <a:gd fmla="val 50000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21" name="Google Shape;121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71525" y="460236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2" name="Google Shape;122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71525" y="5029051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3" name="Google Shape;123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71525" y="5455741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4" name="Google Shape;124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71525" y="5882431"/>
            <a:ext cx="19050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9" name="Google Shape;12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0" name="Google Shape;130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525" y="2152650"/>
            <a:ext cx="10648950" cy="1628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1" name="Google Shape;131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71550" y="2533650"/>
            <a:ext cx="1333500" cy="866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2" name="Google Shape;132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200400" y="2533650"/>
            <a:ext cx="1333500" cy="866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3" name="Google Shape;133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429250" y="2447925"/>
            <a:ext cx="1333500" cy="1038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4" name="Google Shape;134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58100" y="2533650"/>
            <a:ext cx="1333500" cy="866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5" name="Google Shape;135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886950" y="2533650"/>
            <a:ext cx="1333500" cy="866775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5"/>
          <p:cNvSpPr txBox="1"/>
          <p:nvPr/>
        </p:nvSpPr>
        <p:spPr>
          <a:xfrm>
            <a:off x="771525" y="1466850"/>
            <a:ext cx="106489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A seamless journey from intent to personalized discovery.</a:t>
            </a:r>
            <a:endParaRPr/>
          </a:p>
        </p:txBody>
      </p:sp>
      <p:sp>
        <p:nvSpPr>
          <p:cNvPr id="137" name="Google Shape;137;p15"/>
          <p:cNvSpPr/>
          <p:nvPr/>
        </p:nvSpPr>
        <p:spPr>
          <a:xfrm>
            <a:off x="1312497" y="2947987"/>
            <a:ext cx="9567005" cy="381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5"/>
          <p:cNvSpPr txBox="1"/>
          <p:nvPr/>
        </p:nvSpPr>
        <p:spPr>
          <a:xfrm>
            <a:off x="1078230" y="3057525"/>
            <a:ext cx="112014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User</a:t>
            </a:r>
            <a:endParaRPr/>
          </a:p>
        </p:txBody>
      </p:sp>
      <p:sp>
        <p:nvSpPr>
          <p:cNvPr id="139" name="Google Shape;139;p15"/>
          <p:cNvSpPr txBox="1"/>
          <p:nvPr/>
        </p:nvSpPr>
        <p:spPr>
          <a:xfrm>
            <a:off x="3307080" y="3057525"/>
            <a:ext cx="112014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Chat Interface</a:t>
            </a:r>
            <a:endParaRPr/>
          </a:p>
        </p:txBody>
      </p:sp>
      <p:sp>
        <p:nvSpPr>
          <p:cNvPr id="140" name="Google Shape;140;p15"/>
          <p:cNvSpPr txBox="1"/>
          <p:nvPr/>
        </p:nvSpPr>
        <p:spPr>
          <a:xfrm>
            <a:off x="5535930" y="2971800"/>
            <a:ext cx="11201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AI Understanding</a:t>
            </a:r>
            <a:endParaRPr/>
          </a:p>
        </p:txBody>
      </p:sp>
      <p:sp>
        <p:nvSpPr>
          <p:cNvPr id="141" name="Google Shape;141;p15"/>
          <p:cNvSpPr txBox="1"/>
          <p:nvPr/>
        </p:nvSpPr>
        <p:spPr>
          <a:xfrm>
            <a:off x="7764780" y="3057525"/>
            <a:ext cx="112014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Property Search</a:t>
            </a:r>
            <a:endParaRPr/>
          </a:p>
        </p:txBody>
      </p:sp>
      <p:sp>
        <p:nvSpPr>
          <p:cNvPr id="142" name="Google Shape;142;p15"/>
          <p:cNvSpPr txBox="1"/>
          <p:nvPr/>
        </p:nvSpPr>
        <p:spPr>
          <a:xfrm>
            <a:off x="9993630" y="3057525"/>
            <a:ext cx="112014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Recommendations</a:t>
            </a:r>
            <a:endParaRPr/>
          </a:p>
        </p:txBody>
      </p:sp>
      <p:pic>
        <p:nvPicPr>
          <p:cNvPr descr="image.png" id="143" name="Google Shape;143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790950" y="5488334"/>
            <a:ext cx="25717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5"/>
          <p:cNvSpPr txBox="1"/>
          <p:nvPr/>
        </p:nvSpPr>
        <p:spPr>
          <a:xfrm>
            <a:off x="2957512" y="5812184"/>
            <a:ext cx="19240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Natural Language Input</a:t>
            </a:r>
            <a:endParaRPr/>
          </a:p>
        </p:txBody>
      </p:sp>
      <p:pic>
        <p:nvPicPr>
          <p:cNvPr descr="image.png" id="145" name="Google Shape;145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238875" y="5488334"/>
            <a:ext cx="20002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5"/>
          <p:cNvSpPr txBox="1"/>
          <p:nvPr/>
        </p:nvSpPr>
        <p:spPr>
          <a:xfrm>
            <a:off x="5262562" y="5812184"/>
            <a:ext cx="21526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Instant Recommendations</a:t>
            </a:r>
            <a:endParaRPr/>
          </a:p>
        </p:txBody>
      </p:sp>
      <p:pic>
        <p:nvPicPr>
          <p:cNvPr descr="image.png" id="147" name="Google Shape;147;p1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401050" y="5488334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5"/>
          <p:cNvSpPr txBox="1"/>
          <p:nvPr/>
        </p:nvSpPr>
        <p:spPr>
          <a:xfrm>
            <a:off x="7796212" y="5812184"/>
            <a:ext cx="14382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Saved Properties</a:t>
            </a:r>
            <a:endParaRPr/>
          </a:p>
        </p:txBody>
      </p:sp>
      <p:pic>
        <p:nvPicPr>
          <p:cNvPr descr="image.png" id="149" name="Google Shape;149;p1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538287" y="2724150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0" name="Google Shape;150;p15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3752850" y="2724150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1" name="Google Shape;151;p15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5981700" y="2638425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2" name="Google Shape;152;p15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8210550" y="2724150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3" name="Google Shape;153;p15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10410825" y="2724150"/>
            <a:ext cx="2857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5"/>
          <p:cNvSpPr txBox="1"/>
          <p:nvPr/>
        </p:nvSpPr>
        <p:spPr>
          <a:xfrm>
            <a:off x="771525" y="581025"/>
            <a:ext cx="11181397" cy="504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User Experience Flow</a:t>
            </a:r>
            <a:endParaRPr/>
          </a:p>
        </p:txBody>
      </p:sp>
      <p:sp>
        <p:nvSpPr>
          <p:cNvPr id="155" name="Google Shape;155;p15"/>
          <p:cNvSpPr/>
          <p:nvPr/>
        </p:nvSpPr>
        <p:spPr>
          <a:xfrm>
            <a:off x="771525" y="1085850"/>
            <a:ext cx="76200" cy="342900"/>
          </a:xfrm>
          <a:prstGeom prst="roundRect">
            <a:avLst>
              <a:gd fmla="val 50000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56" name="Google Shape;156;p15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2657475" y="2871787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7" name="Google Shape;157;p15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4886325" y="2871787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8" name="Google Shape;158;p15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7115175" y="2871787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9" name="Google Shape;159;p15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9344025" y="2871787"/>
            <a:ext cx="190500" cy="19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4" name="Google Shape;16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5" name="Google Shape;165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525" y="1466850"/>
            <a:ext cx="10648950" cy="1628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6" name="Google Shape;166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862262" y="4362450"/>
            <a:ext cx="1038225" cy="400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7" name="Google Shape;167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090987" y="4362450"/>
            <a:ext cx="1133475" cy="400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8" name="Google Shape;168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414962" y="4362450"/>
            <a:ext cx="1171575" cy="400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9" name="Google Shape;169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777037" y="4362450"/>
            <a:ext cx="990600" cy="400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0" name="Google Shape;170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958137" y="4362450"/>
            <a:ext cx="1371600" cy="400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1" name="Google Shape;171;p1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71550" y="1847850"/>
            <a:ext cx="1333500" cy="866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2" name="Google Shape;172;p1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3200400" y="1762125"/>
            <a:ext cx="1333500" cy="1038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3" name="Google Shape;173;p16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5429250" y="1847850"/>
            <a:ext cx="1333500" cy="866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4" name="Google Shape;174;p16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7658100" y="1847850"/>
            <a:ext cx="1333500" cy="866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5" name="Google Shape;175;p16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9886950" y="1847850"/>
            <a:ext cx="1333500" cy="866775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16"/>
          <p:cNvSpPr/>
          <p:nvPr/>
        </p:nvSpPr>
        <p:spPr>
          <a:xfrm>
            <a:off x="1312497" y="2262187"/>
            <a:ext cx="9567005" cy="381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77" name="Google Shape;177;p16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1038225" y="5895975"/>
            <a:ext cx="25717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6"/>
          <p:cNvSpPr txBox="1"/>
          <p:nvPr/>
        </p:nvSpPr>
        <p:spPr>
          <a:xfrm>
            <a:off x="1447800" y="5910262"/>
            <a:ext cx="73533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3A8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Key Message: A modern, decoupled stack designed for speed, scale, and AI integration.</a:t>
            </a:r>
            <a:endParaRPr/>
          </a:p>
        </p:txBody>
      </p:sp>
      <p:sp>
        <p:nvSpPr>
          <p:cNvPr id="179" name="Google Shape;179;p16"/>
          <p:cNvSpPr txBox="1"/>
          <p:nvPr/>
        </p:nvSpPr>
        <p:spPr>
          <a:xfrm>
            <a:off x="1078230" y="2371725"/>
            <a:ext cx="112014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React Frontend</a:t>
            </a:r>
            <a:endParaRPr/>
          </a:p>
        </p:txBody>
      </p:sp>
      <p:sp>
        <p:nvSpPr>
          <p:cNvPr id="180" name="Google Shape;180;p16"/>
          <p:cNvSpPr txBox="1"/>
          <p:nvPr/>
        </p:nvSpPr>
        <p:spPr>
          <a:xfrm>
            <a:off x="3307080" y="2286000"/>
            <a:ext cx="11201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FastAPI Backend</a:t>
            </a:r>
            <a:endParaRPr/>
          </a:p>
        </p:txBody>
      </p:sp>
      <p:sp>
        <p:nvSpPr>
          <p:cNvPr id="181" name="Google Shape;181;p16"/>
          <p:cNvSpPr txBox="1"/>
          <p:nvPr/>
        </p:nvSpPr>
        <p:spPr>
          <a:xfrm>
            <a:off x="5535930" y="2371725"/>
            <a:ext cx="112014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Groq LLM Layer</a:t>
            </a:r>
            <a:endParaRPr/>
          </a:p>
        </p:txBody>
      </p:sp>
      <p:sp>
        <p:nvSpPr>
          <p:cNvPr id="182" name="Google Shape;182;p16"/>
          <p:cNvSpPr txBox="1"/>
          <p:nvPr/>
        </p:nvSpPr>
        <p:spPr>
          <a:xfrm>
            <a:off x="7764780" y="2371725"/>
            <a:ext cx="112014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Search Engine</a:t>
            </a:r>
            <a:endParaRPr/>
          </a:p>
        </p:txBody>
      </p:sp>
      <p:sp>
        <p:nvSpPr>
          <p:cNvPr id="183" name="Google Shape;183;p16"/>
          <p:cNvSpPr txBox="1"/>
          <p:nvPr/>
        </p:nvSpPr>
        <p:spPr>
          <a:xfrm>
            <a:off x="9993630" y="2371725"/>
            <a:ext cx="112014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MongoDB</a:t>
            </a:r>
            <a:endParaRPr/>
          </a:p>
        </p:txBody>
      </p:sp>
      <p:pic>
        <p:nvPicPr>
          <p:cNvPr descr="image.png" id="184" name="Google Shape;184;p16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3062287" y="4486275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5" name="Google Shape;185;p16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4291012" y="4486275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6" name="Google Shape;186;p16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5614987" y="4486275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7" name="Google Shape;187;p16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6977062" y="4486275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8" name="Google Shape;188;p16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8158162" y="4486275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9" name="Google Shape;189;p16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1524000" y="2038350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0" name="Google Shape;190;p16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3752850" y="1952625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1" name="Google Shape;191;p16"/>
          <p:cNvPicPr preferRelativeResize="0"/>
          <p:nvPr/>
        </p:nvPicPr>
        <p:blipFill rotWithShape="1">
          <a:blip r:embed="rId23">
            <a:alphaModFix/>
          </a:blip>
          <a:srcRect b="0" l="0" r="0" t="0"/>
          <a:stretch/>
        </p:blipFill>
        <p:spPr>
          <a:xfrm>
            <a:off x="5981700" y="2038350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2" name="Google Shape;192;p16"/>
          <p:cNvPicPr preferRelativeResize="0"/>
          <p:nvPr/>
        </p:nvPicPr>
        <p:blipFill rotWithShape="1">
          <a:blip r:embed="rId24">
            <a:alphaModFix/>
          </a:blip>
          <a:srcRect b="0" l="0" r="0" t="0"/>
          <a:stretch/>
        </p:blipFill>
        <p:spPr>
          <a:xfrm>
            <a:off x="10453687" y="2038350"/>
            <a:ext cx="20002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16"/>
          <p:cNvSpPr txBox="1"/>
          <p:nvPr/>
        </p:nvSpPr>
        <p:spPr>
          <a:xfrm>
            <a:off x="771525" y="581025"/>
            <a:ext cx="11181397" cy="504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Solution Architecture</a:t>
            </a:r>
            <a:endParaRPr/>
          </a:p>
        </p:txBody>
      </p:sp>
      <p:sp>
        <p:nvSpPr>
          <p:cNvPr id="194" name="Google Shape;194;p16"/>
          <p:cNvSpPr/>
          <p:nvPr/>
        </p:nvSpPr>
        <p:spPr>
          <a:xfrm>
            <a:off x="771525" y="1085850"/>
            <a:ext cx="76200" cy="342900"/>
          </a:xfrm>
          <a:prstGeom prst="roundRect">
            <a:avLst>
              <a:gd fmla="val 50000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95" name="Google Shape;195;p16"/>
          <p:cNvPicPr preferRelativeResize="0"/>
          <p:nvPr/>
        </p:nvPicPr>
        <p:blipFill rotWithShape="1">
          <a:blip r:embed="rId25">
            <a:alphaModFix/>
          </a:blip>
          <a:srcRect b="0" l="0" r="0" t="0"/>
          <a:stretch/>
        </p:blipFill>
        <p:spPr>
          <a:xfrm>
            <a:off x="2657475" y="2185987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6" name="Google Shape;196;p16"/>
          <p:cNvPicPr preferRelativeResize="0"/>
          <p:nvPr/>
        </p:nvPicPr>
        <p:blipFill rotWithShape="1">
          <a:blip r:embed="rId25">
            <a:alphaModFix/>
          </a:blip>
          <a:srcRect b="0" l="0" r="0" t="0"/>
          <a:stretch/>
        </p:blipFill>
        <p:spPr>
          <a:xfrm>
            <a:off x="4886325" y="2185987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7" name="Google Shape;197;p16"/>
          <p:cNvPicPr preferRelativeResize="0"/>
          <p:nvPr/>
        </p:nvPicPr>
        <p:blipFill rotWithShape="1">
          <a:blip r:embed="rId25">
            <a:alphaModFix/>
          </a:blip>
          <a:srcRect b="0" l="0" r="0" t="0"/>
          <a:stretch/>
        </p:blipFill>
        <p:spPr>
          <a:xfrm>
            <a:off x="7115175" y="2185987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8" name="Google Shape;198;p16"/>
          <p:cNvPicPr preferRelativeResize="0"/>
          <p:nvPr/>
        </p:nvPicPr>
        <p:blipFill rotWithShape="1">
          <a:blip r:embed="rId25">
            <a:alphaModFix/>
          </a:blip>
          <a:srcRect b="0" l="0" r="0" t="0"/>
          <a:stretch/>
        </p:blipFill>
        <p:spPr>
          <a:xfrm>
            <a:off x="9344025" y="2185987"/>
            <a:ext cx="190500" cy="19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3" name="Google Shape;20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4" name="Google Shape;204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905000"/>
            <a:ext cx="2443162" cy="523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5" name="Google Shape;205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977312" y="1905000"/>
            <a:ext cx="2443162" cy="523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6" name="Google Shape;206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581275"/>
            <a:ext cx="2443162" cy="523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7" name="Google Shape;207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977312" y="2581275"/>
            <a:ext cx="2443162" cy="523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8" name="Google Shape;208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38225" y="5895975"/>
            <a:ext cx="1714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17"/>
          <p:cNvSpPr txBox="1"/>
          <p:nvPr/>
        </p:nvSpPr>
        <p:spPr>
          <a:xfrm>
            <a:off x="1362075" y="5910262"/>
            <a:ext cx="736282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3A8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Key Message: Groq enables real-time conversational experiences without inference lag.</a:t>
            </a:r>
            <a:endParaRPr/>
          </a:p>
        </p:txBody>
      </p:sp>
      <p:sp>
        <p:nvSpPr>
          <p:cNvPr id="210" name="Google Shape;210;p17"/>
          <p:cNvSpPr txBox="1"/>
          <p:nvPr/>
        </p:nvSpPr>
        <p:spPr>
          <a:xfrm>
            <a:off x="771525" y="1466850"/>
            <a:ext cx="5290661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E3A8A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LLM Selected: Groq + Llama 3.3 70B</a:t>
            </a:r>
            <a:endParaRPr/>
          </a:p>
        </p:txBody>
      </p:sp>
      <p:sp>
        <p:nvSpPr>
          <p:cNvPr id="211" name="Google Shape;211;p17"/>
          <p:cNvSpPr txBox="1"/>
          <p:nvPr/>
        </p:nvSpPr>
        <p:spPr>
          <a:xfrm>
            <a:off x="771525" y="1905000"/>
            <a:ext cx="50387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Why Selected:</a:t>
            </a:r>
            <a:endParaRPr/>
          </a:p>
        </p:txBody>
      </p:sp>
      <p:sp>
        <p:nvSpPr>
          <p:cNvPr id="212" name="Google Shape;212;p17"/>
          <p:cNvSpPr txBox="1"/>
          <p:nvPr/>
        </p:nvSpPr>
        <p:spPr>
          <a:xfrm>
            <a:off x="6381750" y="1466850"/>
            <a:ext cx="5290661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E3A8A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AI Responsibilities</a:t>
            </a:r>
            <a:endParaRPr/>
          </a:p>
        </p:txBody>
      </p:sp>
      <p:sp>
        <p:nvSpPr>
          <p:cNvPr id="213" name="Google Shape;213;p17"/>
          <p:cNvSpPr txBox="1"/>
          <p:nvPr/>
        </p:nvSpPr>
        <p:spPr>
          <a:xfrm>
            <a:off x="1076325" y="2369790"/>
            <a:ext cx="47339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Extremely low latency</a:t>
            </a:r>
            <a:endParaRPr/>
          </a:p>
        </p:txBody>
      </p:sp>
      <p:sp>
        <p:nvSpPr>
          <p:cNvPr id="214" name="Google Shape;214;p17"/>
          <p:cNvSpPr txBox="1"/>
          <p:nvPr/>
        </p:nvSpPr>
        <p:spPr>
          <a:xfrm>
            <a:off x="1076325" y="2796480"/>
            <a:ext cx="47339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High inference speed</a:t>
            </a:r>
            <a:endParaRPr/>
          </a:p>
        </p:txBody>
      </p:sp>
      <p:sp>
        <p:nvSpPr>
          <p:cNvPr id="215" name="Google Shape;215;p17"/>
          <p:cNvSpPr txBox="1"/>
          <p:nvPr/>
        </p:nvSpPr>
        <p:spPr>
          <a:xfrm>
            <a:off x="1076325" y="3223170"/>
            <a:ext cx="47339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Strong reasoning capabilities</a:t>
            </a:r>
            <a:endParaRPr/>
          </a:p>
        </p:txBody>
      </p:sp>
      <p:sp>
        <p:nvSpPr>
          <p:cNvPr id="216" name="Google Shape;216;p17"/>
          <p:cNvSpPr txBox="1"/>
          <p:nvPr/>
        </p:nvSpPr>
        <p:spPr>
          <a:xfrm>
            <a:off x="1076325" y="3649860"/>
            <a:ext cx="47339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Cost efficient</a:t>
            </a:r>
            <a:endParaRPr/>
          </a:p>
        </p:txBody>
      </p:sp>
      <p:sp>
        <p:nvSpPr>
          <p:cNvPr id="217" name="Google Shape;217;p17"/>
          <p:cNvSpPr txBox="1"/>
          <p:nvPr/>
        </p:nvSpPr>
        <p:spPr>
          <a:xfrm>
            <a:off x="1076325" y="4076551"/>
            <a:ext cx="47339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Production-ready APIs</a:t>
            </a:r>
            <a:endParaRPr/>
          </a:p>
        </p:txBody>
      </p:sp>
      <p:pic>
        <p:nvPicPr>
          <p:cNvPr descr="image.png" id="218" name="Google Shape;218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139237" y="2771775"/>
            <a:ext cx="1524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17"/>
          <p:cNvSpPr txBox="1"/>
          <p:nvPr/>
        </p:nvSpPr>
        <p:spPr>
          <a:xfrm>
            <a:off x="771525" y="581025"/>
            <a:ext cx="11181397" cy="504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AI Architecture</a:t>
            </a:r>
            <a:endParaRPr/>
          </a:p>
        </p:txBody>
      </p:sp>
      <p:sp>
        <p:nvSpPr>
          <p:cNvPr id="220" name="Google Shape;220;p17"/>
          <p:cNvSpPr/>
          <p:nvPr/>
        </p:nvSpPr>
        <p:spPr>
          <a:xfrm>
            <a:off x="771525" y="1085850"/>
            <a:ext cx="76200" cy="342900"/>
          </a:xfrm>
          <a:prstGeom prst="roundRect">
            <a:avLst>
              <a:gd fmla="val 50000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21" name="Google Shape;221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71525" y="238884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2" name="Google Shape;222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71525" y="281553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3" name="Google Shape;223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71525" y="324222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4" name="Google Shape;224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71525" y="366891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5" name="Google Shape;225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71525" y="4095601"/>
            <a:ext cx="19050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17"/>
          <p:cNvSpPr txBox="1"/>
          <p:nvPr/>
        </p:nvSpPr>
        <p:spPr>
          <a:xfrm>
            <a:off x="6543675" y="2066925"/>
            <a:ext cx="2225278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286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E3A8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Intent Detection</a:t>
            </a:r>
            <a:endParaRPr/>
          </a:p>
        </p:txBody>
      </p:sp>
      <p:sp>
        <p:nvSpPr>
          <p:cNvPr id="227" name="Google Shape;227;p17"/>
          <p:cNvSpPr txBox="1"/>
          <p:nvPr/>
        </p:nvSpPr>
        <p:spPr>
          <a:xfrm>
            <a:off x="9139237" y="2066925"/>
            <a:ext cx="2225278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667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E3A8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Query Understanding</a:t>
            </a:r>
            <a:endParaRPr/>
          </a:p>
        </p:txBody>
      </p:sp>
      <p:sp>
        <p:nvSpPr>
          <p:cNvPr id="228" name="Google Shape;228;p17"/>
          <p:cNvSpPr txBox="1"/>
          <p:nvPr/>
        </p:nvSpPr>
        <p:spPr>
          <a:xfrm>
            <a:off x="6543675" y="2743200"/>
            <a:ext cx="2225278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286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E3A8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Preference Extraction</a:t>
            </a:r>
            <a:endParaRPr/>
          </a:p>
        </p:txBody>
      </p:sp>
      <p:sp>
        <p:nvSpPr>
          <p:cNvPr id="229" name="Google Shape;229;p17"/>
          <p:cNvSpPr txBox="1"/>
          <p:nvPr/>
        </p:nvSpPr>
        <p:spPr>
          <a:xfrm>
            <a:off x="9139237" y="2743200"/>
            <a:ext cx="2225278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286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E3A8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Response Generation</a:t>
            </a:r>
            <a:endParaRPr/>
          </a:p>
        </p:txBody>
      </p:sp>
      <p:pic>
        <p:nvPicPr>
          <p:cNvPr descr="image.png" id="230" name="Google Shape;230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543675" y="2095500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1" name="Google Shape;231;p1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139237" y="2095500"/>
            <a:ext cx="1905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2" name="Google Shape;232;p17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543675" y="2771775"/>
            <a:ext cx="152400" cy="15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7" name="Google Shape;237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8" name="Google Shape;238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525" y="1466850"/>
            <a:ext cx="3346400" cy="317554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9" name="Google Shape;239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22725" y="1466850"/>
            <a:ext cx="3346400" cy="317554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0" name="Google Shape;240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73925" y="1466850"/>
            <a:ext cx="3346400" cy="3175545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18"/>
          <p:cNvSpPr txBox="1"/>
          <p:nvPr/>
        </p:nvSpPr>
        <p:spPr>
          <a:xfrm>
            <a:off x="771525" y="5023395"/>
            <a:ext cx="106489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3A8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Processing Flow</a:t>
            </a:r>
            <a:endParaRPr/>
          </a:p>
        </p:txBody>
      </p:sp>
      <p:pic>
        <p:nvPicPr>
          <p:cNvPr descr="image.png" id="242" name="Google Shape;242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762250" y="5392935"/>
            <a:ext cx="6667500" cy="495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3" name="Google Shape;243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09650" y="1781175"/>
            <a:ext cx="533400" cy="533400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18"/>
          <p:cNvSpPr txBox="1"/>
          <p:nvPr/>
        </p:nvSpPr>
        <p:spPr>
          <a:xfrm>
            <a:off x="1009650" y="2505075"/>
            <a:ext cx="3013657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F172A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Property Basics</a:t>
            </a:r>
            <a:endParaRPr/>
          </a:p>
        </p:txBody>
      </p:sp>
      <p:pic>
        <p:nvPicPr>
          <p:cNvPr descr="image.png" id="245" name="Google Shape;245;p1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660850" y="1781175"/>
            <a:ext cx="533400" cy="533400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18"/>
          <p:cNvSpPr txBox="1"/>
          <p:nvPr/>
        </p:nvSpPr>
        <p:spPr>
          <a:xfrm>
            <a:off x="4660850" y="2505075"/>
            <a:ext cx="3013657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F172A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Characteristics</a:t>
            </a:r>
            <a:endParaRPr/>
          </a:p>
        </p:txBody>
      </p:sp>
      <p:pic>
        <p:nvPicPr>
          <p:cNvPr descr="image.png" id="247" name="Google Shape;247;p18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312050" y="1781175"/>
            <a:ext cx="533400" cy="533400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18"/>
          <p:cNvSpPr txBox="1"/>
          <p:nvPr/>
        </p:nvSpPr>
        <p:spPr>
          <a:xfrm>
            <a:off x="8312050" y="2505075"/>
            <a:ext cx="3013657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F172A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Visuals</a:t>
            </a:r>
            <a:endParaRPr/>
          </a:p>
        </p:txBody>
      </p:sp>
      <p:sp>
        <p:nvSpPr>
          <p:cNvPr id="249" name="Google Shape;249;p18"/>
          <p:cNvSpPr txBox="1"/>
          <p:nvPr/>
        </p:nvSpPr>
        <p:spPr>
          <a:xfrm>
            <a:off x="3057525" y="5545335"/>
            <a:ext cx="122872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Multiple Sources</a:t>
            </a:r>
            <a:endParaRPr/>
          </a:p>
        </p:txBody>
      </p:sp>
      <p:pic>
        <p:nvPicPr>
          <p:cNvPr descr="image.png" id="250" name="Google Shape;250;p18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476750" y="5564385"/>
            <a:ext cx="13335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18"/>
          <p:cNvSpPr txBox="1"/>
          <p:nvPr/>
        </p:nvSpPr>
        <p:spPr>
          <a:xfrm>
            <a:off x="4800600" y="5545335"/>
            <a:ext cx="12382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2563E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Integration Layer</a:t>
            </a:r>
            <a:endParaRPr/>
          </a:p>
        </p:txBody>
      </p:sp>
      <p:pic>
        <p:nvPicPr>
          <p:cNvPr descr="image.png" id="252" name="Google Shape;252;p18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229350" y="5564385"/>
            <a:ext cx="13335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18"/>
          <p:cNvSpPr txBox="1"/>
          <p:nvPr/>
        </p:nvSpPr>
        <p:spPr>
          <a:xfrm>
            <a:off x="6553200" y="5545335"/>
            <a:ext cx="10191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0B98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Unified Model</a:t>
            </a:r>
            <a:endParaRPr/>
          </a:p>
        </p:txBody>
      </p:sp>
      <p:pic>
        <p:nvPicPr>
          <p:cNvPr descr="image.png" id="254" name="Google Shape;254;p18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7762875" y="5564385"/>
            <a:ext cx="13335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18"/>
          <p:cNvSpPr txBox="1"/>
          <p:nvPr/>
        </p:nvSpPr>
        <p:spPr>
          <a:xfrm>
            <a:off x="8086725" y="5545335"/>
            <a:ext cx="10477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8B5CF6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Search Engine</a:t>
            </a:r>
            <a:endParaRPr/>
          </a:p>
        </p:txBody>
      </p:sp>
      <p:pic>
        <p:nvPicPr>
          <p:cNvPr descr="image.png" id="256" name="Google Shape;256;p18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190625" y="1933575"/>
            <a:ext cx="1714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18"/>
          <p:cNvSpPr txBox="1"/>
          <p:nvPr/>
        </p:nvSpPr>
        <p:spPr>
          <a:xfrm>
            <a:off x="1314450" y="2857500"/>
            <a:ext cx="25653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Price</a:t>
            </a:r>
            <a:endParaRPr/>
          </a:p>
        </p:txBody>
      </p:sp>
      <p:sp>
        <p:nvSpPr>
          <p:cNvPr id="258" name="Google Shape;258;p18"/>
          <p:cNvSpPr txBox="1"/>
          <p:nvPr/>
        </p:nvSpPr>
        <p:spPr>
          <a:xfrm>
            <a:off x="1314450" y="3284190"/>
            <a:ext cx="25653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Location</a:t>
            </a:r>
            <a:endParaRPr/>
          </a:p>
        </p:txBody>
      </p:sp>
      <p:sp>
        <p:nvSpPr>
          <p:cNvPr id="259" name="Google Shape;259;p18"/>
          <p:cNvSpPr txBox="1"/>
          <p:nvPr/>
        </p:nvSpPr>
        <p:spPr>
          <a:xfrm>
            <a:off x="1314450" y="3710880"/>
            <a:ext cx="25653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Title</a:t>
            </a:r>
            <a:endParaRPr/>
          </a:p>
        </p:txBody>
      </p:sp>
      <p:pic>
        <p:nvPicPr>
          <p:cNvPr descr="image.png" id="260" name="Google Shape;260;p18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4813250" y="1933575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18"/>
          <p:cNvSpPr txBox="1"/>
          <p:nvPr/>
        </p:nvSpPr>
        <p:spPr>
          <a:xfrm>
            <a:off x="4965650" y="2857500"/>
            <a:ext cx="25653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Bedrooms &amp; Bathrooms</a:t>
            </a:r>
            <a:endParaRPr/>
          </a:p>
        </p:txBody>
      </p:sp>
      <p:sp>
        <p:nvSpPr>
          <p:cNvPr id="262" name="Google Shape;262;p18"/>
          <p:cNvSpPr txBox="1"/>
          <p:nvPr/>
        </p:nvSpPr>
        <p:spPr>
          <a:xfrm>
            <a:off x="4965650" y="3284190"/>
            <a:ext cx="25653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Amenities</a:t>
            </a:r>
            <a:endParaRPr/>
          </a:p>
        </p:txBody>
      </p:sp>
      <p:pic>
        <p:nvPicPr>
          <p:cNvPr descr="image.png" id="263" name="Google Shape;263;p18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8450163" y="1933575"/>
            <a:ext cx="25717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18"/>
          <p:cNvSpPr txBox="1"/>
          <p:nvPr/>
        </p:nvSpPr>
        <p:spPr>
          <a:xfrm>
            <a:off x="8616850" y="2857500"/>
            <a:ext cx="25653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Photos</a:t>
            </a:r>
            <a:endParaRPr/>
          </a:p>
        </p:txBody>
      </p:sp>
      <p:sp>
        <p:nvSpPr>
          <p:cNvPr id="265" name="Google Shape;265;p18"/>
          <p:cNvSpPr txBox="1"/>
          <p:nvPr/>
        </p:nvSpPr>
        <p:spPr>
          <a:xfrm>
            <a:off x="8616850" y="3284190"/>
            <a:ext cx="25653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Visual previews</a:t>
            </a:r>
            <a:endParaRPr/>
          </a:p>
        </p:txBody>
      </p:sp>
      <p:sp>
        <p:nvSpPr>
          <p:cNvPr id="266" name="Google Shape;266;p18"/>
          <p:cNvSpPr txBox="1"/>
          <p:nvPr/>
        </p:nvSpPr>
        <p:spPr>
          <a:xfrm>
            <a:off x="771525" y="581025"/>
            <a:ext cx="11181397" cy="504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Data Intelligence Layer</a:t>
            </a:r>
            <a:endParaRPr/>
          </a:p>
        </p:txBody>
      </p:sp>
      <p:sp>
        <p:nvSpPr>
          <p:cNvPr id="267" name="Google Shape;267;p18"/>
          <p:cNvSpPr/>
          <p:nvPr/>
        </p:nvSpPr>
        <p:spPr>
          <a:xfrm>
            <a:off x="771525" y="1085850"/>
            <a:ext cx="76200" cy="342900"/>
          </a:xfrm>
          <a:prstGeom prst="roundRect">
            <a:avLst>
              <a:gd fmla="val 50000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68" name="Google Shape;268;p18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1009650" y="287655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9" name="Google Shape;269;p18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1009650" y="330324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0" name="Google Shape;270;p18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1009650" y="372993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1" name="Google Shape;271;p18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4660850" y="287655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2" name="Google Shape;272;p18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4660850" y="330324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3" name="Google Shape;273;p18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8312050" y="287655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4" name="Google Shape;274;p18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8312050" y="3303240"/>
            <a:ext cx="19050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79" name="Google Shape;279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80" name="Google Shape;280;p19"/>
          <p:cNvGraphicFramePr/>
          <p:nvPr/>
        </p:nvGraphicFramePr>
        <p:xfrm>
          <a:off x="771525" y="165735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{92B54A60-836B-447F-AD8C-0FDFA4CBA57B}</a:tableStyleId>
              </a:tblPr>
              <a:tblGrid>
                <a:gridCol w="2180475"/>
                <a:gridCol w="8468475"/>
              </a:tblGrid>
              <a:tr h="562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Technology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Selected Because...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562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React</a:t>
                      </a:r>
                      <a:r>
                        <a:rPr b="0" i="0" lang="en-US" sz="120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(Frontend)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Component architecture, fast development cycles, excellent interactive user experience.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2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FastAPI</a:t>
                      </a:r>
                      <a:r>
                        <a:rPr b="0" i="0" lang="en-US" sz="120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(Backend)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High performance, native async processing, extremely AI/ML integration friendly.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2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MongoDB</a:t>
                      </a:r>
                      <a:r>
                        <a:rPr b="0" i="0" lang="en-US" sz="120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(Database)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Flexible schema for diverse properties, JSON-native storage aligns with API, easy horizontal scaling.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2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Groq</a:t>
                      </a:r>
                      <a:r>
                        <a:rPr b="0" i="0" lang="en-US" sz="120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(LLM Inference)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Industry-leading inference speed, significantly lower latency than standard cloud alternatives.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81" name="Google Shape;281;p19"/>
          <p:cNvSpPr/>
          <p:nvPr/>
        </p:nvSpPr>
        <p:spPr>
          <a:xfrm>
            <a:off x="771525" y="2231677"/>
            <a:ext cx="218048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9"/>
          <p:cNvSpPr/>
          <p:nvPr/>
        </p:nvSpPr>
        <p:spPr>
          <a:xfrm>
            <a:off x="2952005" y="2231677"/>
            <a:ext cx="846846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83" name="Google Shape;283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38225" y="5895975"/>
            <a:ext cx="2857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19"/>
          <p:cNvSpPr txBox="1"/>
          <p:nvPr/>
        </p:nvSpPr>
        <p:spPr>
          <a:xfrm>
            <a:off x="1476375" y="5910262"/>
            <a:ext cx="72390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3A8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Key Message: Every technical choice was optimized for low-latency conversational AI.</a:t>
            </a:r>
            <a:endParaRPr/>
          </a:p>
        </p:txBody>
      </p:sp>
      <p:sp>
        <p:nvSpPr>
          <p:cNvPr id="285" name="Google Shape;285;p19"/>
          <p:cNvSpPr/>
          <p:nvPr/>
        </p:nvSpPr>
        <p:spPr>
          <a:xfrm>
            <a:off x="771525" y="2789783"/>
            <a:ext cx="218048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9"/>
          <p:cNvSpPr/>
          <p:nvPr/>
        </p:nvSpPr>
        <p:spPr>
          <a:xfrm>
            <a:off x="2952005" y="2789783"/>
            <a:ext cx="846846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9"/>
          <p:cNvSpPr/>
          <p:nvPr/>
        </p:nvSpPr>
        <p:spPr>
          <a:xfrm>
            <a:off x="771525" y="3347888"/>
            <a:ext cx="218048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9"/>
          <p:cNvSpPr/>
          <p:nvPr/>
        </p:nvSpPr>
        <p:spPr>
          <a:xfrm>
            <a:off x="2952005" y="3347888"/>
            <a:ext cx="846846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9"/>
          <p:cNvSpPr/>
          <p:nvPr/>
        </p:nvSpPr>
        <p:spPr>
          <a:xfrm>
            <a:off x="771525" y="3905994"/>
            <a:ext cx="218048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9"/>
          <p:cNvSpPr/>
          <p:nvPr/>
        </p:nvSpPr>
        <p:spPr>
          <a:xfrm>
            <a:off x="2952005" y="3905994"/>
            <a:ext cx="846846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9"/>
          <p:cNvSpPr txBox="1"/>
          <p:nvPr/>
        </p:nvSpPr>
        <p:spPr>
          <a:xfrm>
            <a:off x="771525" y="581025"/>
            <a:ext cx="11181397" cy="504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Engineering Decisions</a:t>
            </a:r>
            <a:endParaRPr/>
          </a:p>
        </p:txBody>
      </p:sp>
      <p:sp>
        <p:nvSpPr>
          <p:cNvPr id="292" name="Google Shape;292;p19"/>
          <p:cNvSpPr/>
          <p:nvPr/>
        </p:nvSpPr>
        <p:spPr>
          <a:xfrm>
            <a:off x="771525" y="1085850"/>
            <a:ext cx="76200" cy="342900"/>
          </a:xfrm>
          <a:prstGeom prst="roundRect">
            <a:avLst>
              <a:gd fmla="val 50000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97" name="Google Shape;297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8" name="Google Shape;298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38225" y="5895975"/>
            <a:ext cx="25717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20"/>
          <p:cNvSpPr txBox="1"/>
          <p:nvPr/>
        </p:nvSpPr>
        <p:spPr>
          <a:xfrm>
            <a:off x="1447800" y="5910262"/>
            <a:ext cx="74485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3A8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Key Message: A feature set designed to mimic a knowledgeable human real estate agent.</a:t>
            </a:r>
            <a:endParaRPr/>
          </a:p>
        </p:txBody>
      </p:sp>
      <p:pic>
        <p:nvPicPr>
          <p:cNvPr descr="image.png" id="300" name="Google Shape;300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09650" y="1704975"/>
            <a:ext cx="5143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20"/>
          <p:cNvSpPr txBox="1"/>
          <p:nvPr/>
        </p:nvSpPr>
        <p:spPr>
          <a:xfrm>
            <a:off x="1676400" y="1833562"/>
            <a:ext cx="1730216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Conversational Search</a:t>
            </a:r>
            <a:endParaRPr/>
          </a:p>
        </p:txBody>
      </p:sp>
      <p:pic>
        <p:nvPicPr>
          <p:cNvPr descr="image.png" id="302" name="Google Shape;302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635400" y="1704975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20"/>
          <p:cNvSpPr txBox="1"/>
          <p:nvPr/>
        </p:nvSpPr>
        <p:spPr>
          <a:xfrm>
            <a:off x="5245000" y="1833562"/>
            <a:ext cx="1590198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Intelligent Discovery</a:t>
            </a:r>
            <a:endParaRPr/>
          </a:p>
        </p:txBody>
      </p:sp>
      <p:pic>
        <p:nvPicPr>
          <p:cNvPr descr="image.png" id="304" name="Google Shape;304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261300" y="1704975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p20"/>
          <p:cNvSpPr txBox="1"/>
          <p:nvPr/>
        </p:nvSpPr>
        <p:spPr>
          <a:xfrm>
            <a:off x="8870900" y="1833562"/>
            <a:ext cx="1830228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AI Query Understanding</a:t>
            </a:r>
            <a:endParaRPr/>
          </a:p>
        </p:txBody>
      </p:sp>
      <p:pic>
        <p:nvPicPr>
          <p:cNvPr descr="image.png" id="306" name="Google Shape;306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09650" y="2867025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20"/>
          <p:cNvSpPr txBox="1"/>
          <p:nvPr/>
        </p:nvSpPr>
        <p:spPr>
          <a:xfrm>
            <a:off x="1619250" y="2995612"/>
            <a:ext cx="1340167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Dynamic Filtering</a:t>
            </a:r>
            <a:endParaRPr/>
          </a:p>
        </p:txBody>
      </p:sp>
      <p:pic>
        <p:nvPicPr>
          <p:cNvPr descr="image.png" id="308" name="Google Shape;308;p2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635400" y="2867025"/>
            <a:ext cx="4000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20"/>
          <p:cNvSpPr txBox="1"/>
          <p:nvPr/>
        </p:nvSpPr>
        <p:spPr>
          <a:xfrm>
            <a:off x="5187850" y="2995612"/>
            <a:ext cx="1340167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Saved Properties</a:t>
            </a:r>
            <a:endParaRPr/>
          </a:p>
        </p:txBody>
      </p:sp>
      <p:pic>
        <p:nvPicPr>
          <p:cNvPr descr="image.png" id="310" name="Google Shape;310;p2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261300" y="2867025"/>
            <a:ext cx="428625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20"/>
          <p:cNvSpPr txBox="1"/>
          <p:nvPr/>
        </p:nvSpPr>
        <p:spPr>
          <a:xfrm>
            <a:off x="8842325" y="2995612"/>
            <a:ext cx="1910238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Personalized Experience</a:t>
            </a:r>
            <a:endParaRPr/>
          </a:p>
        </p:txBody>
      </p:sp>
      <p:sp>
        <p:nvSpPr>
          <p:cNvPr id="312" name="Google Shape;312;p20"/>
          <p:cNvSpPr txBox="1"/>
          <p:nvPr/>
        </p:nvSpPr>
        <p:spPr>
          <a:xfrm>
            <a:off x="771525" y="581025"/>
            <a:ext cx="11181397" cy="504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Core Platform Features</a:t>
            </a:r>
            <a:endParaRPr/>
          </a:p>
        </p:txBody>
      </p:sp>
      <p:sp>
        <p:nvSpPr>
          <p:cNvPr id="313" name="Google Shape;313;p20"/>
          <p:cNvSpPr/>
          <p:nvPr/>
        </p:nvSpPr>
        <p:spPr>
          <a:xfrm>
            <a:off x="771525" y="1085850"/>
            <a:ext cx="76200" cy="342900"/>
          </a:xfrm>
          <a:prstGeom prst="roundRect">
            <a:avLst>
              <a:gd fmla="val 50000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18" name="Google Shape;318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9" name="Google Shape;319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465040"/>
            <a:ext cx="5038725" cy="29601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0" name="Google Shape;320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10350" y="3227040"/>
            <a:ext cx="2214562" cy="88954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1" name="Google Shape;321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977312" y="3227040"/>
            <a:ext cx="2214562" cy="88954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2" name="Google Shape;322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610350" y="4307085"/>
            <a:ext cx="2214562" cy="88954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3" name="Google Shape;323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977312" y="4307085"/>
            <a:ext cx="2214562" cy="889545"/>
          </a:xfrm>
          <a:prstGeom prst="rect">
            <a:avLst/>
          </a:prstGeom>
          <a:noFill/>
          <a:ln>
            <a:noFill/>
          </a:ln>
        </p:spPr>
      </p:pic>
      <p:sp>
        <p:nvSpPr>
          <p:cNvPr id="324" name="Google Shape;324;p21"/>
          <p:cNvSpPr txBox="1"/>
          <p:nvPr/>
        </p:nvSpPr>
        <p:spPr>
          <a:xfrm>
            <a:off x="771525" y="1466850"/>
            <a:ext cx="5290661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E3A8A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User Impact</a:t>
            </a:r>
            <a:endParaRPr/>
          </a:p>
        </p:txBody>
      </p:sp>
      <p:sp>
        <p:nvSpPr>
          <p:cNvPr id="325" name="Google Shape;325;p21"/>
          <p:cNvSpPr txBox="1"/>
          <p:nvPr/>
        </p:nvSpPr>
        <p:spPr>
          <a:xfrm>
            <a:off x="771525" y="4088010"/>
            <a:ext cx="5290661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E3A8A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Technical Impact</a:t>
            </a:r>
            <a:endParaRPr/>
          </a:p>
        </p:txBody>
      </p:sp>
      <p:sp>
        <p:nvSpPr>
          <p:cNvPr id="326" name="Google Shape;326;p21"/>
          <p:cNvSpPr txBox="1"/>
          <p:nvPr/>
        </p:nvSpPr>
        <p:spPr>
          <a:xfrm>
            <a:off x="1076325" y="1905000"/>
            <a:ext cx="47339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Faster search process</a:t>
            </a:r>
            <a:endParaRPr/>
          </a:p>
        </p:txBody>
      </p:sp>
      <p:sp>
        <p:nvSpPr>
          <p:cNvPr id="327" name="Google Shape;327;p21"/>
          <p:cNvSpPr txBox="1"/>
          <p:nvPr/>
        </p:nvSpPr>
        <p:spPr>
          <a:xfrm>
            <a:off x="1076325" y="2331690"/>
            <a:ext cx="47339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Reduced decision fatigue</a:t>
            </a:r>
            <a:endParaRPr/>
          </a:p>
        </p:txBody>
      </p:sp>
      <p:sp>
        <p:nvSpPr>
          <p:cNvPr id="328" name="Google Shape;328;p21"/>
          <p:cNvSpPr txBox="1"/>
          <p:nvPr/>
        </p:nvSpPr>
        <p:spPr>
          <a:xfrm>
            <a:off x="1076325" y="2758380"/>
            <a:ext cx="47339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Better, highly relevant recommendations</a:t>
            </a:r>
            <a:endParaRPr/>
          </a:p>
        </p:txBody>
      </p:sp>
      <p:sp>
        <p:nvSpPr>
          <p:cNvPr id="329" name="Google Shape;329;p21"/>
          <p:cNvSpPr txBox="1"/>
          <p:nvPr/>
        </p:nvSpPr>
        <p:spPr>
          <a:xfrm>
            <a:off x="1076325" y="3185070"/>
            <a:ext cx="47339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Improved overall satisfaction</a:t>
            </a:r>
            <a:endParaRPr/>
          </a:p>
        </p:txBody>
      </p:sp>
      <p:sp>
        <p:nvSpPr>
          <p:cNvPr id="330" name="Google Shape;330;p21"/>
          <p:cNvSpPr txBox="1"/>
          <p:nvPr/>
        </p:nvSpPr>
        <p:spPr>
          <a:xfrm>
            <a:off x="1076325" y="4526160"/>
            <a:ext cx="47339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AI-native architecture</a:t>
            </a:r>
            <a:endParaRPr/>
          </a:p>
        </p:txBody>
      </p:sp>
      <p:sp>
        <p:nvSpPr>
          <p:cNvPr id="331" name="Google Shape;331;p21"/>
          <p:cNvSpPr txBox="1"/>
          <p:nvPr/>
        </p:nvSpPr>
        <p:spPr>
          <a:xfrm>
            <a:off x="1076325" y="4952851"/>
            <a:ext cx="47339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Modular, maintainable design</a:t>
            </a:r>
            <a:endParaRPr/>
          </a:p>
        </p:txBody>
      </p:sp>
      <p:sp>
        <p:nvSpPr>
          <p:cNvPr id="332" name="Google Shape;332;p21"/>
          <p:cNvSpPr txBox="1"/>
          <p:nvPr/>
        </p:nvSpPr>
        <p:spPr>
          <a:xfrm>
            <a:off x="1076325" y="5379541"/>
            <a:ext cx="47339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Scalable infrastructure</a:t>
            </a:r>
            <a:endParaRPr/>
          </a:p>
        </p:txBody>
      </p:sp>
      <p:sp>
        <p:nvSpPr>
          <p:cNvPr id="333" name="Google Shape;333;p21"/>
          <p:cNvSpPr txBox="1"/>
          <p:nvPr/>
        </p:nvSpPr>
        <p:spPr>
          <a:xfrm>
            <a:off x="1076325" y="5806231"/>
            <a:ext cx="47339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Future-ready platform</a:t>
            </a:r>
            <a:endParaRPr/>
          </a:p>
        </p:txBody>
      </p:sp>
      <p:sp>
        <p:nvSpPr>
          <p:cNvPr id="334" name="Google Shape;334;p21"/>
          <p:cNvSpPr txBox="1"/>
          <p:nvPr/>
        </p:nvSpPr>
        <p:spPr>
          <a:xfrm>
            <a:off x="6610350" y="2693640"/>
            <a:ext cx="4810601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Executive KPI Dashboard</a:t>
            </a:r>
            <a:endParaRPr/>
          </a:p>
        </p:txBody>
      </p:sp>
      <p:sp>
        <p:nvSpPr>
          <p:cNvPr id="335" name="Google Shape;335;p21"/>
          <p:cNvSpPr/>
          <p:nvPr/>
        </p:nvSpPr>
        <p:spPr>
          <a:xfrm>
            <a:off x="6610350" y="3027015"/>
            <a:ext cx="458152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21"/>
          <p:cNvSpPr txBox="1"/>
          <p:nvPr/>
        </p:nvSpPr>
        <p:spPr>
          <a:xfrm>
            <a:off x="771525" y="581025"/>
            <a:ext cx="11181397" cy="504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Business Impact</a:t>
            </a:r>
            <a:endParaRPr/>
          </a:p>
        </p:txBody>
      </p:sp>
      <p:sp>
        <p:nvSpPr>
          <p:cNvPr id="337" name="Google Shape;337;p21"/>
          <p:cNvSpPr/>
          <p:nvPr/>
        </p:nvSpPr>
        <p:spPr>
          <a:xfrm>
            <a:off x="771525" y="1085850"/>
            <a:ext cx="76200" cy="342900"/>
          </a:xfrm>
          <a:prstGeom prst="roundRect">
            <a:avLst>
              <a:gd fmla="val 50000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38" name="Google Shape;338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71525" y="192405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9" name="Google Shape;339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71525" y="235074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0" name="Google Shape;340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71525" y="277743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1" name="Google Shape;341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71525" y="320412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2" name="Google Shape;342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71525" y="454521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3" name="Google Shape;343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71525" y="4971901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4" name="Google Shape;344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71525" y="5398591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5" name="Google Shape;345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71525" y="5825281"/>
            <a:ext cx="19050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346" name="Google Shape;346;p21"/>
          <p:cNvSpPr txBox="1"/>
          <p:nvPr/>
        </p:nvSpPr>
        <p:spPr>
          <a:xfrm>
            <a:off x="6715005" y="3379440"/>
            <a:ext cx="200525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SEARCH TIME</a:t>
            </a:r>
            <a:endParaRPr/>
          </a:p>
        </p:txBody>
      </p:sp>
      <p:sp>
        <p:nvSpPr>
          <p:cNvPr id="347" name="Google Shape;347;p21"/>
          <p:cNvSpPr txBox="1"/>
          <p:nvPr/>
        </p:nvSpPr>
        <p:spPr>
          <a:xfrm>
            <a:off x="6762750" y="3598515"/>
            <a:ext cx="1909762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-40%</a:t>
            </a:r>
            <a:endParaRPr/>
          </a:p>
        </p:txBody>
      </p:sp>
      <p:sp>
        <p:nvSpPr>
          <p:cNvPr id="348" name="Google Shape;348;p21"/>
          <p:cNvSpPr txBox="1"/>
          <p:nvPr/>
        </p:nvSpPr>
        <p:spPr>
          <a:xfrm>
            <a:off x="9081968" y="3379440"/>
            <a:ext cx="200525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ENGAGEMENT</a:t>
            </a:r>
            <a:endParaRPr/>
          </a:p>
        </p:txBody>
      </p:sp>
      <p:sp>
        <p:nvSpPr>
          <p:cNvPr id="349" name="Google Shape;349;p21"/>
          <p:cNvSpPr txBox="1"/>
          <p:nvPr/>
        </p:nvSpPr>
        <p:spPr>
          <a:xfrm>
            <a:off x="9129712" y="3598515"/>
            <a:ext cx="1909762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+2.5x</a:t>
            </a:r>
            <a:endParaRPr/>
          </a:p>
        </p:txBody>
      </p:sp>
      <p:sp>
        <p:nvSpPr>
          <p:cNvPr id="350" name="Google Shape;350;p21"/>
          <p:cNvSpPr txBox="1"/>
          <p:nvPr/>
        </p:nvSpPr>
        <p:spPr>
          <a:xfrm>
            <a:off x="6715005" y="4459485"/>
            <a:ext cx="200525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LEAD CONVERSION</a:t>
            </a:r>
            <a:endParaRPr/>
          </a:p>
        </p:txBody>
      </p:sp>
      <p:sp>
        <p:nvSpPr>
          <p:cNvPr id="351" name="Google Shape;351;p21"/>
          <p:cNvSpPr txBox="1"/>
          <p:nvPr/>
        </p:nvSpPr>
        <p:spPr>
          <a:xfrm>
            <a:off x="6762750" y="4678560"/>
            <a:ext cx="1909762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+15%</a:t>
            </a:r>
            <a:endParaRPr/>
          </a:p>
        </p:txBody>
      </p:sp>
      <p:sp>
        <p:nvSpPr>
          <p:cNvPr id="352" name="Google Shape;352;p21"/>
          <p:cNvSpPr txBox="1"/>
          <p:nvPr/>
        </p:nvSpPr>
        <p:spPr>
          <a:xfrm>
            <a:off x="9081968" y="4459485"/>
            <a:ext cx="200525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LATENCY</a:t>
            </a:r>
            <a:endParaRPr/>
          </a:p>
        </p:txBody>
      </p:sp>
      <p:sp>
        <p:nvSpPr>
          <p:cNvPr id="353" name="Google Shape;353;p21"/>
          <p:cNvSpPr txBox="1"/>
          <p:nvPr/>
        </p:nvSpPr>
        <p:spPr>
          <a:xfrm>
            <a:off x="9129712" y="4678560"/>
            <a:ext cx="1909762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&lt;800ms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58" name="Google Shape;358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9" name="Google Shape;359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525" y="1657350"/>
            <a:ext cx="5038725" cy="504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0" name="Google Shape;360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71525" y="2314575"/>
            <a:ext cx="5038725" cy="504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1" name="Google Shape;361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71525" y="2971800"/>
            <a:ext cx="5038725" cy="504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2" name="Google Shape;362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71525" y="3629025"/>
            <a:ext cx="5038725" cy="504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3" name="Google Shape;363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71525" y="4286250"/>
            <a:ext cx="5038725" cy="504825"/>
          </a:xfrm>
          <a:prstGeom prst="rect">
            <a:avLst/>
          </a:prstGeom>
          <a:noFill/>
          <a:ln>
            <a:noFill/>
          </a:ln>
        </p:spPr>
      </p:pic>
      <p:sp>
        <p:nvSpPr>
          <p:cNvPr id="364" name="Google Shape;364;p22"/>
          <p:cNvSpPr txBox="1"/>
          <p:nvPr/>
        </p:nvSpPr>
        <p:spPr>
          <a:xfrm>
            <a:off x="6381750" y="1466850"/>
            <a:ext cx="5290661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E3A8A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Future Capabilities</a:t>
            </a:r>
            <a:endParaRPr/>
          </a:p>
        </p:txBody>
      </p:sp>
      <p:sp>
        <p:nvSpPr>
          <p:cNvPr id="365" name="Google Shape;365;p22"/>
          <p:cNvSpPr txBox="1"/>
          <p:nvPr/>
        </p:nvSpPr>
        <p:spPr>
          <a:xfrm>
            <a:off x="6686550" y="1905000"/>
            <a:ext cx="47339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Market Insights: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Real-time pricing trends.</a:t>
            </a:r>
            <a:endParaRPr/>
          </a:p>
        </p:txBody>
      </p:sp>
      <p:sp>
        <p:nvSpPr>
          <p:cNvPr id="366" name="Google Shape;366;p22"/>
          <p:cNvSpPr txBox="1"/>
          <p:nvPr/>
        </p:nvSpPr>
        <p:spPr>
          <a:xfrm>
            <a:off x="6686550" y="2331690"/>
            <a:ext cx="47339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Investment Recommendations: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ROI forecasting.</a:t>
            </a:r>
            <a:endParaRPr/>
          </a:p>
        </p:txBody>
      </p:sp>
      <p:sp>
        <p:nvSpPr>
          <p:cNvPr id="367" name="Google Shape;367;p22"/>
          <p:cNvSpPr txBox="1"/>
          <p:nvPr/>
        </p:nvSpPr>
        <p:spPr>
          <a:xfrm>
            <a:off x="6686550" y="2758380"/>
            <a:ext cx="47339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Personalized Alerts: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Proactive notifications via AI.</a:t>
            </a:r>
            <a:endParaRPr/>
          </a:p>
        </p:txBody>
      </p:sp>
      <p:sp>
        <p:nvSpPr>
          <p:cNvPr id="368" name="Google Shape;368;p22"/>
          <p:cNvSpPr txBox="1"/>
          <p:nvPr/>
        </p:nvSpPr>
        <p:spPr>
          <a:xfrm>
            <a:off x="6686550" y="3185070"/>
            <a:ext cx="473392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Predictive Matching: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Anticipating user needs before they ask.</a:t>
            </a:r>
            <a:endParaRPr/>
          </a:p>
        </p:txBody>
      </p:sp>
      <p:pic>
        <p:nvPicPr>
          <p:cNvPr descr="image.png" id="369" name="Google Shape;369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648450" y="4695676"/>
            <a:ext cx="25717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70" name="Google Shape;370;p22"/>
          <p:cNvSpPr txBox="1"/>
          <p:nvPr/>
        </p:nvSpPr>
        <p:spPr>
          <a:xfrm>
            <a:off x="7058025" y="4609951"/>
            <a:ext cx="41338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3A8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Key Message: Evolving from a search tool to a comprehensive, autonomous advisory platform.</a:t>
            </a:r>
            <a:endParaRPr/>
          </a:p>
        </p:txBody>
      </p:sp>
      <p:sp>
        <p:nvSpPr>
          <p:cNvPr id="371" name="Google Shape;371;p22"/>
          <p:cNvSpPr txBox="1"/>
          <p:nvPr/>
        </p:nvSpPr>
        <p:spPr>
          <a:xfrm>
            <a:off x="1038225" y="1814512"/>
            <a:ext cx="762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Phase 1</a:t>
            </a:r>
            <a:endParaRPr/>
          </a:p>
        </p:txBody>
      </p:sp>
      <p:sp>
        <p:nvSpPr>
          <p:cNvPr id="372" name="Google Shape;372;p22"/>
          <p:cNvSpPr txBox="1"/>
          <p:nvPr/>
        </p:nvSpPr>
        <p:spPr>
          <a:xfrm>
            <a:off x="2028825" y="1809750"/>
            <a:ext cx="265747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Conversational Property Search</a:t>
            </a:r>
            <a:endParaRPr/>
          </a:p>
        </p:txBody>
      </p:sp>
      <p:sp>
        <p:nvSpPr>
          <p:cNvPr id="373" name="Google Shape;373;p22"/>
          <p:cNvSpPr txBox="1"/>
          <p:nvPr/>
        </p:nvSpPr>
        <p:spPr>
          <a:xfrm>
            <a:off x="1038225" y="2471737"/>
            <a:ext cx="762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Phase 2</a:t>
            </a:r>
            <a:endParaRPr/>
          </a:p>
        </p:txBody>
      </p:sp>
      <p:sp>
        <p:nvSpPr>
          <p:cNvPr id="374" name="Google Shape;374;p22"/>
          <p:cNvSpPr txBox="1"/>
          <p:nvPr/>
        </p:nvSpPr>
        <p:spPr>
          <a:xfrm>
            <a:off x="2028825" y="2466975"/>
            <a:ext cx="32004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Personalized Recommendation Engine</a:t>
            </a:r>
            <a:endParaRPr/>
          </a:p>
        </p:txBody>
      </p:sp>
      <p:sp>
        <p:nvSpPr>
          <p:cNvPr id="375" name="Google Shape;375;p22"/>
          <p:cNvSpPr txBox="1"/>
          <p:nvPr/>
        </p:nvSpPr>
        <p:spPr>
          <a:xfrm>
            <a:off x="1038225" y="3128962"/>
            <a:ext cx="762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Phase 3</a:t>
            </a:r>
            <a:endParaRPr/>
          </a:p>
        </p:txBody>
      </p:sp>
      <p:sp>
        <p:nvSpPr>
          <p:cNvPr id="376" name="Google Shape;376;p22"/>
          <p:cNvSpPr txBox="1"/>
          <p:nvPr/>
        </p:nvSpPr>
        <p:spPr>
          <a:xfrm>
            <a:off x="2028825" y="3124200"/>
            <a:ext cx="25908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Property Comparison Assistant</a:t>
            </a:r>
            <a:endParaRPr/>
          </a:p>
        </p:txBody>
      </p:sp>
      <p:sp>
        <p:nvSpPr>
          <p:cNvPr id="377" name="Google Shape;377;p22"/>
          <p:cNvSpPr txBox="1"/>
          <p:nvPr/>
        </p:nvSpPr>
        <p:spPr>
          <a:xfrm>
            <a:off x="1038225" y="3786187"/>
            <a:ext cx="762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Phase 4</a:t>
            </a:r>
            <a:endParaRPr/>
          </a:p>
        </p:txBody>
      </p:sp>
      <p:sp>
        <p:nvSpPr>
          <p:cNvPr id="378" name="Google Shape;378;p22"/>
          <p:cNvSpPr txBox="1"/>
          <p:nvPr/>
        </p:nvSpPr>
        <p:spPr>
          <a:xfrm>
            <a:off x="2028825" y="3781425"/>
            <a:ext cx="322897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RAG-Powered Search (Real-time docs)</a:t>
            </a:r>
            <a:endParaRPr/>
          </a:p>
        </p:txBody>
      </p:sp>
      <p:sp>
        <p:nvSpPr>
          <p:cNvPr id="379" name="Google Shape;379;p22"/>
          <p:cNvSpPr txBox="1"/>
          <p:nvPr/>
        </p:nvSpPr>
        <p:spPr>
          <a:xfrm>
            <a:off x="1038225" y="4443412"/>
            <a:ext cx="762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Phase 5</a:t>
            </a:r>
            <a:endParaRPr/>
          </a:p>
        </p:txBody>
      </p:sp>
      <p:sp>
        <p:nvSpPr>
          <p:cNvPr id="380" name="Google Shape;380;p22"/>
          <p:cNvSpPr txBox="1"/>
          <p:nvPr/>
        </p:nvSpPr>
        <p:spPr>
          <a:xfrm>
            <a:off x="2028825" y="4438650"/>
            <a:ext cx="23050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Agentic Real Estate Advisor</a:t>
            </a:r>
            <a:endParaRPr/>
          </a:p>
        </p:txBody>
      </p:sp>
      <p:sp>
        <p:nvSpPr>
          <p:cNvPr id="381" name="Google Shape;381;p22"/>
          <p:cNvSpPr txBox="1"/>
          <p:nvPr/>
        </p:nvSpPr>
        <p:spPr>
          <a:xfrm>
            <a:off x="771525" y="581025"/>
            <a:ext cx="11181397" cy="504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Future Roadmap</a:t>
            </a:r>
            <a:endParaRPr/>
          </a:p>
        </p:txBody>
      </p:sp>
      <p:sp>
        <p:nvSpPr>
          <p:cNvPr id="382" name="Google Shape;382;p22"/>
          <p:cNvSpPr/>
          <p:nvPr/>
        </p:nvSpPr>
        <p:spPr>
          <a:xfrm>
            <a:off x="771525" y="1085850"/>
            <a:ext cx="76200" cy="342900"/>
          </a:xfrm>
          <a:prstGeom prst="roundRect">
            <a:avLst>
              <a:gd fmla="val 50000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83" name="Google Shape;383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381750" y="192405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84" name="Google Shape;384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381750" y="235074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85" name="Google Shape;385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381750" y="277743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86" name="Google Shape;386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381750" y="3204120"/>
            <a:ext cx="19050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91" name="Google Shape;39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92" name="Google Shape;392;p23"/>
          <p:cNvSpPr/>
          <p:nvPr/>
        </p:nvSpPr>
        <p:spPr>
          <a:xfrm>
            <a:off x="771525" y="1466850"/>
            <a:ext cx="10648950" cy="9828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93" name="Google Shape;393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525" y="1485900"/>
            <a:ext cx="148232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394" name="Google Shape;394;p23"/>
          <p:cNvSpPr/>
          <p:nvPr/>
        </p:nvSpPr>
        <p:spPr>
          <a:xfrm>
            <a:off x="771525" y="2440185"/>
            <a:ext cx="10648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23"/>
          <p:cNvSpPr/>
          <p:nvPr/>
        </p:nvSpPr>
        <p:spPr>
          <a:xfrm>
            <a:off x="771525" y="2440185"/>
            <a:ext cx="10648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96" name="Google Shape;396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525" y="2468760"/>
            <a:ext cx="148232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97" name="Google Shape;397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76325" y="1715392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98" name="Google Shape;398;p23"/>
          <p:cNvSpPr txBox="1"/>
          <p:nvPr/>
        </p:nvSpPr>
        <p:spPr>
          <a:xfrm>
            <a:off x="2171700" y="1609725"/>
            <a:ext cx="924877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https://media.istockphoto.com/id/1199343722/photo/finding-apartment-for-rent-on-internet-real-estate-agency-website-screen-with-fake-map-on.jpg?s=612x612&amp;w=0&amp;k=20&amp;c=iZ95aDqM4p-wJ4J21i9LszxTqE49kEIKnF9kX_z5VzI=</a:t>
            </a:r>
            <a:endParaRPr/>
          </a:p>
        </p:txBody>
      </p:sp>
      <p:sp>
        <p:nvSpPr>
          <p:cNvPr id="399" name="Google Shape;399;p23"/>
          <p:cNvSpPr txBox="1"/>
          <p:nvPr/>
        </p:nvSpPr>
        <p:spPr>
          <a:xfrm>
            <a:off x="2171700" y="2053530"/>
            <a:ext cx="924877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www.istockphoto.com</a:t>
            </a:r>
            <a:endParaRPr/>
          </a:p>
        </p:txBody>
      </p:sp>
      <p:pic>
        <p:nvPicPr>
          <p:cNvPr descr="image.png" id="400" name="Google Shape;400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76325" y="2698253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23"/>
          <p:cNvSpPr txBox="1"/>
          <p:nvPr/>
        </p:nvSpPr>
        <p:spPr>
          <a:xfrm>
            <a:off x="2171700" y="2592585"/>
            <a:ext cx="924877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https://media.istockphoto.com/id/1283590509/vector/real-estate-technology-isometric-landing-page.jpg?s=612x612&amp;w=0&amp;k=20&amp;c=hBvK-j1vG3T1p0D1M2v1yW_wO2mP_F33yU2M2055wLw=</a:t>
            </a:r>
            <a:endParaRPr/>
          </a:p>
        </p:txBody>
      </p:sp>
      <p:sp>
        <p:nvSpPr>
          <p:cNvPr id="402" name="Google Shape;402;p23"/>
          <p:cNvSpPr txBox="1"/>
          <p:nvPr/>
        </p:nvSpPr>
        <p:spPr>
          <a:xfrm>
            <a:off x="2171700" y="3036391"/>
            <a:ext cx="924877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www.istockphoto.com</a:t>
            </a:r>
            <a:endParaRPr/>
          </a:p>
        </p:txBody>
      </p:sp>
      <p:sp>
        <p:nvSpPr>
          <p:cNvPr id="403" name="Google Shape;403;p23"/>
          <p:cNvSpPr txBox="1"/>
          <p:nvPr/>
        </p:nvSpPr>
        <p:spPr>
          <a:xfrm>
            <a:off x="771525" y="581025"/>
            <a:ext cx="11181397" cy="504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Image Sources</a:t>
            </a:r>
            <a:endParaRPr/>
          </a:p>
        </p:txBody>
      </p:sp>
      <p:sp>
        <p:nvSpPr>
          <p:cNvPr id="404" name="Google Shape;404;p23"/>
          <p:cNvSpPr/>
          <p:nvPr/>
        </p:nvSpPr>
        <p:spPr>
          <a:xfrm>
            <a:off x="771525" y="1085850"/>
            <a:ext cx="76200" cy="342900"/>
          </a:xfrm>
          <a:prstGeom prst="roundRect">
            <a:avLst>
              <a:gd fmla="val 50000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